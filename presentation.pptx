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70B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97280" y="914400"/>
            <a:ext cx="146304" cy="146304"/>
          </a:xfrm>
          <a:prstGeom prst="ellipse">
            <a:avLst/>
          </a:prstGeom>
          <a:solidFill>
            <a:srgbClr val="53D8FF">
              <a:alpha val="8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24128" y="841248"/>
            <a:ext cx="292608" cy="292608"/>
          </a:xfrm>
          <a:prstGeom prst="ellipse">
            <a:avLst/>
          </a:prstGeom>
          <a:solidFill>
            <a:srgbClr val="53D8FF">
              <a:alpha val="12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920240" y="3931920"/>
            <a:ext cx="146304" cy="146304"/>
          </a:xfrm>
          <a:prstGeom prst="ellipse">
            <a:avLst/>
          </a:prstGeom>
          <a:solidFill>
            <a:srgbClr val="FF6B2C">
              <a:alpha val="8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1847088" y="3858768"/>
            <a:ext cx="292608" cy="292608"/>
          </a:xfrm>
          <a:prstGeom prst="ellipse">
            <a:avLst/>
          </a:prstGeom>
          <a:solidFill>
            <a:srgbClr val="FF6B2C">
              <a:alpha val="12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7680960" y="822960"/>
            <a:ext cx="146304" cy="146304"/>
          </a:xfrm>
          <a:prstGeom prst="ellipse">
            <a:avLst/>
          </a:prstGeom>
          <a:solidFill>
            <a:srgbClr val="FFB020">
              <a:alpha val="80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7607808" y="749808"/>
            <a:ext cx="292608" cy="292608"/>
          </a:xfrm>
          <a:prstGeom prst="ellipse">
            <a:avLst/>
          </a:prstGeom>
          <a:solidFill>
            <a:srgbClr val="FFB020">
              <a:alpha val="12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8321040" y="4206240"/>
            <a:ext cx="146304" cy="146304"/>
          </a:xfrm>
          <a:prstGeom prst="ellipse">
            <a:avLst/>
          </a:prstGeom>
          <a:solidFill>
            <a:srgbClr val="3DDC97">
              <a:alpha val="80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8247888" y="4133088"/>
            <a:ext cx="292608" cy="292608"/>
          </a:xfrm>
          <a:prstGeom prst="ellipse">
            <a:avLst/>
          </a:prstGeom>
          <a:solidFill>
            <a:srgbClr val="3DDC97">
              <a:alpha val="12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640080" y="2743200"/>
            <a:ext cx="146304" cy="146304"/>
          </a:xfrm>
          <a:prstGeom prst="ellipse">
            <a:avLst/>
          </a:prstGeom>
          <a:solidFill>
            <a:srgbClr val="FF3D5A">
              <a:alpha val="80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566928" y="2670048"/>
            <a:ext cx="292608" cy="292608"/>
          </a:xfrm>
          <a:prstGeom prst="ellipse">
            <a:avLst/>
          </a:prstGeom>
          <a:solidFill>
            <a:srgbClr val="FF3D5A">
              <a:alpha val="12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8138160" y="2377440"/>
            <a:ext cx="146304" cy="146304"/>
          </a:xfrm>
          <a:prstGeom prst="ellipse">
            <a:avLst/>
          </a:prstGeom>
          <a:solidFill>
            <a:srgbClr val="53D8FF">
              <a:alpha val="80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8065008" y="2304288"/>
            <a:ext cx="292608" cy="292608"/>
          </a:xfrm>
          <a:prstGeom prst="ellipse">
            <a:avLst/>
          </a:prstGeom>
          <a:solidFill>
            <a:srgbClr val="53D8FF">
              <a:alpha val="12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1645920" y="2011680"/>
            <a:ext cx="146304" cy="146304"/>
          </a:xfrm>
          <a:prstGeom prst="ellipse">
            <a:avLst/>
          </a:prstGeom>
          <a:solidFill>
            <a:srgbClr val="FFB020">
              <a:alpha val="80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1572768" y="1938528"/>
            <a:ext cx="292608" cy="292608"/>
          </a:xfrm>
          <a:prstGeom prst="ellipse">
            <a:avLst/>
          </a:prstGeom>
          <a:solidFill>
            <a:srgbClr val="FFB020">
              <a:alpha val="12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1234440" y="1005840"/>
            <a:ext cx="822960" cy="1051560"/>
          </a:xfrm>
          <a:prstGeom prst="line">
            <a:avLst/>
          </a:prstGeom>
          <a:noFill/>
          <a:ln w="12700">
            <a:solidFill>
              <a:srgbClr val="2A3A5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818120" y="960120"/>
            <a:ext cx="411480" cy="1463040"/>
          </a:xfrm>
          <a:prstGeom prst="line">
            <a:avLst/>
          </a:prstGeom>
          <a:noFill/>
          <a:ln w="12700">
            <a:solidFill>
              <a:srgbClr val="2A3A5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12344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spc="400" kern="0" dirty="0">
                <a:solidFill>
                  <a:srgbClr val="FF6B2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SDAI  HIMSHIKHAR  2026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57200" y="160020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E9EE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APIPhoenix</a:t>
            </a:r>
            <a:endParaRPr lang="en-US" sz="6000" dirty="0"/>
          </a:p>
        </p:txBody>
      </p:sp>
      <p:sp>
        <p:nvSpPr>
          <p:cNvPr id="20" name="Text 18"/>
          <p:cNvSpPr/>
          <p:nvPr/>
        </p:nvSpPr>
        <p:spPr>
          <a:xfrm>
            <a:off x="457200" y="265176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dirty="0">
                <a:solidFill>
                  <a:srgbClr val="FFB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AI-Powered API Documentation &amp; Testing Portal</a:t>
            </a:r>
            <a:endParaRPr lang="en-US" sz="1900" dirty="0"/>
          </a:p>
        </p:txBody>
      </p:sp>
      <p:sp>
        <p:nvSpPr>
          <p:cNvPr id="21" name="Text 19"/>
          <p:cNvSpPr/>
          <p:nvPr/>
        </p:nvSpPr>
        <p:spPr>
          <a:xfrm>
            <a:off x="457200" y="31089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8B96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APIs — documented, sampled, and battle-tested in seconds.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1965960" y="3749040"/>
            <a:ext cx="5212080" cy="868680"/>
          </a:xfrm>
          <a:prstGeom prst="roundRect">
            <a:avLst>
              <a:gd name="adj" fmla="val 8421"/>
            </a:avLst>
          </a:prstGeom>
          <a:solidFill>
            <a:srgbClr val="111A2E"/>
          </a:solidFill>
          <a:ln w="12700">
            <a:solidFill>
              <a:srgbClr val="2A3A5F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1965960" y="3749040"/>
            <a:ext cx="52120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300" kern="0" dirty="0">
                <a:solidFill>
                  <a:srgbClr val="FF6B2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TEAM PHOENIX</a:t>
            </a:r>
            <a:endParaRPr lang="en-US" sz="11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E9EE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Sri Varshith Vaitla · Nekkanti Bhavita · Pula Nikarika</a:t>
            </a:r>
            <a:endParaRPr lang="en-US" sz="11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E9EE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Sai Ankith Reddy Kancherla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70B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9EE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problem — and who it hurts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B96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APIs run everything. Their documentation rots first.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66928" y="201168"/>
            <a:ext cx="100584" cy="100584"/>
          </a:xfrm>
          <a:prstGeom prst="ellipse">
            <a:avLst/>
          </a:prstGeom>
          <a:solidFill>
            <a:srgbClr val="53D8FF"/>
          </a:solidFill>
          <a:ln/>
        </p:spPr>
      </p:sp>
      <p:sp>
        <p:nvSpPr>
          <p:cNvPr id="5" name="Shape 3"/>
          <p:cNvSpPr/>
          <p:nvPr/>
        </p:nvSpPr>
        <p:spPr>
          <a:xfrm>
            <a:off x="768096" y="201168"/>
            <a:ext cx="100584" cy="100584"/>
          </a:xfrm>
          <a:prstGeom prst="ellipse">
            <a:avLst/>
          </a:prstGeom>
          <a:solidFill>
            <a:srgbClr val="FF6B2C"/>
          </a:solidFill>
          <a:ln/>
        </p:spPr>
      </p:sp>
      <p:sp>
        <p:nvSpPr>
          <p:cNvPr id="6" name="Shape 4"/>
          <p:cNvSpPr/>
          <p:nvPr/>
        </p:nvSpPr>
        <p:spPr>
          <a:xfrm>
            <a:off x="969264" y="201168"/>
            <a:ext cx="100584" cy="100584"/>
          </a:xfrm>
          <a:prstGeom prst="ellipse">
            <a:avLst/>
          </a:prstGeom>
          <a:solidFill>
            <a:srgbClr val="FFB020"/>
          </a:solidFill>
          <a:ln/>
        </p:spPr>
      </p:sp>
      <p:sp>
        <p:nvSpPr>
          <p:cNvPr id="7" name="Shape 5"/>
          <p:cNvSpPr/>
          <p:nvPr/>
        </p:nvSpPr>
        <p:spPr>
          <a:xfrm>
            <a:off x="1170432" y="201168"/>
            <a:ext cx="100584" cy="100584"/>
          </a:xfrm>
          <a:prstGeom prst="ellipse">
            <a:avLst/>
          </a:prstGeom>
          <a:solidFill>
            <a:srgbClr val="3DDC97"/>
          </a:solidFill>
          <a:ln/>
        </p:spPr>
      </p:sp>
      <p:sp>
        <p:nvSpPr>
          <p:cNvPr id="8" name="Shape 6"/>
          <p:cNvSpPr/>
          <p:nvPr/>
        </p:nvSpPr>
        <p:spPr>
          <a:xfrm>
            <a:off x="1371600" y="201168"/>
            <a:ext cx="100584" cy="100584"/>
          </a:xfrm>
          <a:prstGeom prst="ellipse">
            <a:avLst/>
          </a:prstGeom>
          <a:solidFill>
            <a:srgbClr val="FF3D5A"/>
          </a:solidFill>
          <a:ln/>
        </p:spPr>
      </p:sp>
      <p:sp>
        <p:nvSpPr>
          <p:cNvPr id="9" name="Shape 7"/>
          <p:cNvSpPr/>
          <p:nvPr/>
        </p:nvSpPr>
        <p:spPr>
          <a:xfrm>
            <a:off x="548640" y="1463040"/>
            <a:ext cx="2606040" cy="2194560"/>
          </a:xfrm>
          <a:prstGeom prst="roundRect">
            <a:avLst>
              <a:gd name="adj" fmla="val 3333"/>
            </a:avLst>
          </a:prstGeom>
          <a:solidFill>
            <a:srgbClr val="111A2E"/>
          </a:solidFill>
          <a:ln w="12700">
            <a:solidFill>
              <a:srgbClr val="2A3A5F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731520" y="1627632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📄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731520" y="2121408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B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Docs drift from code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731520" y="2578608"/>
            <a:ext cx="22402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8B96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Hand-written docs go stale the moment an endpoint changes — developers reverse-engineer behavior instead of reading it.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3337560" y="1463040"/>
            <a:ext cx="2606040" cy="2194560"/>
          </a:xfrm>
          <a:prstGeom prst="roundRect">
            <a:avLst>
              <a:gd name="adj" fmla="val 3333"/>
            </a:avLst>
          </a:prstGeom>
          <a:solidFill>
            <a:srgbClr val="111A2E"/>
          </a:solidFill>
          <a:ln w="12700">
            <a:solidFill>
              <a:srgbClr val="2A3A5F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520440" y="1627632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🧩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3520440" y="2121408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B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Boilerplate everywhere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3520440" y="2578608"/>
            <a:ext cx="22402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8B96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integration re-creates the same cURL / JS / Python sample requests and the same basic test cases by hand.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6126480" y="1463040"/>
            <a:ext cx="2606040" cy="2194560"/>
          </a:xfrm>
          <a:prstGeom prst="roundRect">
            <a:avLst>
              <a:gd name="adj" fmla="val 3333"/>
            </a:avLst>
          </a:prstGeom>
          <a:solidFill>
            <a:srgbClr val="111A2E"/>
          </a:solidFill>
          <a:ln w="12700">
            <a:solidFill>
              <a:srgbClr val="2A3A5F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309360" y="1627632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🧨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6309360" y="2121408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B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Errors without answers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309360" y="2578608"/>
            <a:ext cx="22402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8B96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raw 422 or 409 tells a junior developer nothing about what to actually do next.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548640" y="3931920"/>
            <a:ext cx="8046720" cy="777240"/>
          </a:xfrm>
          <a:prstGeom prst="roundRect">
            <a:avLst>
              <a:gd name="adj" fmla="val 9412"/>
            </a:avLst>
          </a:prstGeom>
          <a:solidFill>
            <a:srgbClr val="111A2E"/>
          </a:solidFill>
          <a:ln w="12700">
            <a:solidFill>
              <a:srgbClr val="2A3A5F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777240" y="3931920"/>
            <a:ext cx="75895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6B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Real-world impact:  </a:t>
            </a:r>
            <a:pPr indent="0" marL="0">
              <a:buNone/>
            </a:pPr>
            <a:r>
              <a:rPr lang="en-US" sz="1250" dirty="0">
                <a:solidFill>
                  <a:srgbClr val="E9EE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teams, junior developers and small startups get readable docs, runnable samples, a test report, and a concrete next step — from one upload.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70B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9EE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Starter data — authored, not borrowed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B96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data/endpoints.json · schema: method, path, request_body, response_body, auth_required, error_codes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66928" y="201168"/>
            <a:ext cx="100584" cy="100584"/>
          </a:xfrm>
          <a:prstGeom prst="ellipse">
            <a:avLst/>
          </a:prstGeom>
          <a:solidFill>
            <a:srgbClr val="53D8FF"/>
          </a:solidFill>
          <a:ln/>
        </p:spPr>
      </p:sp>
      <p:sp>
        <p:nvSpPr>
          <p:cNvPr id="5" name="Shape 3"/>
          <p:cNvSpPr/>
          <p:nvPr/>
        </p:nvSpPr>
        <p:spPr>
          <a:xfrm>
            <a:off x="768096" y="201168"/>
            <a:ext cx="100584" cy="100584"/>
          </a:xfrm>
          <a:prstGeom prst="ellipse">
            <a:avLst/>
          </a:prstGeom>
          <a:solidFill>
            <a:srgbClr val="FF6B2C"/>
          </a:solidFill>
          <a:ln/>
        </p:spPr>
      </p:sp>
      <p:sp>
        <p:nvSpPr>
          <p:cNvPr id="6" name="Shape 4"/>
          <p:cNvSpPr/>
          <p:nvPr/>
        </p:nvSpPr>
        <p:spPr>
          <a:xfrm>
            <a:off x="969264" y="201168"/>
            <a:ext cx="100584" cy="100584"/>
          </a:xfrm>
          <a:prstGeom prst="ellipse">
            <a:avLst/>
          </a:prstGeom>
          <a:solidFill>
            <a:srgbClr val="FFB020"/>
          </a:solidFill>
          <a:ln/>
        </p:spPr>
      </p:sp>
      <p:sp>
        <p:nvSpPr>
          <p:cNvPr id="7" name="Shape 5"/>
          <p:cNvSpPr/>
          <p:nvPr/>
        </p:nvSpPr>
        <p:spPr>
          <a:xfrm>
            <a:off x="1170432" y="201168"/>
            <a:ext cx="100584" cy="100584"/>
          </a:xfrm>
          <a:prstGeom prst="ellipse">
            <a:avLst/>
          </a:prstGeom>
          <a:solidFill>
            <a:srgbClr val="3DDC97"/>
          </a:solidFill>
          <a:ln/>
        </p:spPr>
      </p:sp>
      <p:sp>
        <p:nvSpPr>
          <p:cNvPr id="8" name="Shape 6"/>
          <p:cNvSpPr/>
          <p:nvPr/>
        </p:nvSpPr>
        <p:spPr>
          <a:xfrm>
            <a:off x="1371600" y="201168"/>
            <a:ext cx="100584" cy="100584"/>
          </a:xfrm>
          <a:prstGeom prst="ellipse">
            <a:avLst/>
          </a:prstGeom>
          <a:solidFill>
            <a:srgbClr val="FF3D5A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1554480"/>
            <a:ext cx="1554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6B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49</a:t>
            </a:r>
            <a:endParaRPr lang="en-US" sz="5400" dirty="0"/>
          </a:p>
        </p:txBody>
      </p:sp>
      <p:sp>
        <p:nvSpPr>
          <p:cNvPr id="10" name="Text 8"/>
          <p:cNvSpPr/>
          <p:nvPr/>
        </p:nvSpPr>
        <p:spPr>
          <a:xfrm>
            <a:off x="548640" y="237744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6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realistic endpoint records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48640" y="3017520"/>
            <a:ext cx="1554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53D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5400" dirty="0"/>
          </a:p>
        </p:txBody>
      </p:sp>
      <p:sp>
        <p:nvSpPr>
          <p:cNvPr id="12" name="Text 10"/>
          <p:cNvSpPr/>
          <p:nvPr/>
        </p:nvSpPr>
        <p:spPr>
          <a:xfrm>
            <a:off x="548640" y="3840480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6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fictional services, fully reproducible generator</a:t>
            </a:r>
            <a:endParaRPr lang="en-US" sz="11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560320" y="1554480"/>
          <a:ext cx="603504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3840480"/>
                <a:gridCol w="822960"/>
              </a:tblGrid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8B96AD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Service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A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12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8B96AD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Domain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A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12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8B96AD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Endpoints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A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120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FFB02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ShopStack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A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A2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E9EEF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E-commerce — auth, catalog, cart, orders, payments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A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A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FF6B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A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A2E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FFB02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RideLink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A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A2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E9EEF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Mobility — estimates, rides, drivers, surge, wallet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A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A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FF6B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A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A2E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FFB02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MediTrack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A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A2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E9EEF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Healthcare — patients, appointments, labs, vitals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A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A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FF6B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A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A2E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FFB02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EduSphere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A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A2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E9EEF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Ed-tech — courses, quizzes, certificates, doubts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A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A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FF6B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A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A2E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FFB02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PayBridge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A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A2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E9EEF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Fintech — intents, refunds, webhooks, UPI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A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A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FF6B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A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A2E"/>
                    </a:solidFill>
                  </a:tcPr>
                </a:tc>
              </a:tr>
            </a:tbl>
          </a:graphicData>
        </a:graphic>
      </p:graphicFrame>
      <p:sp>
        <p:nvSpPr>
          <p:cNvPr id="14" name="Text 11"/>
          <p:cNvSpPr/>
          <p:nvPr/>
        </p:nvSpPr>
        <p:spPr>
          <a:xfrm>
            <a:off x="2560320" y="4434840"/>
            <a:ext cx="6035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8B96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Deliberate variety: public vs. authenticated · path &amp; query params · domain business errors (402, 409, 423, 429)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70B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9EE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 workflow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B96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Clean path from input to actionable output — it never stops at code execution.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66928" y="201168"/>
            <a:ext cx="100584" cy="100584"/>
          </a:xfrm>
          <a:prstGeom prst="ellipse">
            <a:avLst/>
          </a:prstGeom>
          <a:solidFill>
            <a:srgbClr val="53D8FF"/>
          </a:solidFill>
          <a:ln/>
        </p:spPr>
      </p:sp>
      <p:sp>
        <p:nvSpPr>
          <p:cNvPr id="5" name="Shape 3"/>
          <p:cNvSpPr/>
          <p:nvPr/>
        </p:nvSpPr>
        <p:spPr>
          <a:xfrm>
            <a:off x="768096" y="201168"/>
            <a:ext cx="100584" cy="100584"/>
          </a:xfrm>
          <a:prstGeom prst="ellipse">
            <a:avLst/>
          </a:prstGeom>
          <a:solidFill>
            <a:srgbClr val="FF6B2C"/>
          </a:solidFill>
          <a:ln/>
        </p:spPr>
      </p:sp>
      <p:sp>
        <p:nvSpPr>
          <p:cNvPr id="6" name="Shape 4"/>
          <p:cNvSpPr/>
          <p:nvPr/>
        </p:nvSpPr>
        <p:spPr>
          <a:xfrm>
            <a:off x="969264" y="201168"/>
            <a:ext cx="100584" cy="100584"/>
          </a:xfrm>
          <a:prstGeom prst="ellipse">
            <a:avLst/>
          </a:prstGeom>
          <a:solidFill>
            <a:srgbClr val="FFB020"/>
          </a:solidFill>
          <a:ln/>
        </p:spPr>
      </p:sp>
      <p:sp>
        <p:nvSpPr>
          <p:cNvPr id="7" name="Shape 5"/>
          <p:cNvSpPr/>
          <p:nvPr/>
        </p:nvSpPr>
        <p:spPr>
          <a:xfrm>
            <a:off x="1170432" y="201168"/>
            <a:ext cx="100584" cy="100584"/>
          </a:xfrm>
          <a:prstGeom prst="ellipse">
            <a:avLst/>
          </a:prstGeom>
          <a:solidFill>
            <a:srgbClr val="3DDC97"/>
          </a:solidFill>
          <a:ln/>
        </p:spPr>
      </p:sp>
      <p:sp>
        <p:nvSpPr>
          <p:cNvPr id="8" name="Shape 6"/>
          <p:cNvSpPr/>
          <p:nvPr/>
        </p:nvSpPr>
        <p:spPr>
          <a:xfrm>
            <a:off x="1371600" y="201168"/>
            <a:ext cx="100584" cy="100584"/>
          </a:xfrm>
          <a:prstGeom prst="ellipse">
            <a:avLst/>
          </a:prstGeom>
          <a:solidFill>
            <a:srgbClr val="FF3D5A"/>
          </a:solidFill>
          <a:ln/>
        </p:spPr>
      </p:sp>
      <p:sp>
        <p:nvSpPr>
          <p:cNvPr id="9" name="Shape 7"/>
          <p:cNvSpPr/>
          <p:nvPr/>
        </p:nvSpPr>
        <p:spPr>
          <a:xfrm>
            <a:off x="411480" y="1737360"/>
            <a:ext cx="1572768" cy="2011680"/>
          </a:xfrm>
          <a:prstGeom prst="roundRect">
            <a:avLst>
              <a:gd name="adj" fmla="val 4651"/>
            </a:avLst>
          </a:prstGeom>
          <a:solidFill>
            <a:srgbClr val="111A2E"/>
          </a:solidFill>
          <a:ln w="12700">
            <a:solidFill>
              <a:srgbClr val="2A3A5F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969264" y="1901952"/>
            <a:ext cx="457200" cy="457200"/>
          </a:xfrm>
          <a:prstGeom prst="ellipse">
            <a:avLst/>
          </a:prstGeom>
          <a:solidFill>
            <a:srgbClr val="53D8FF"/>
          </a:solidFill>
          <a:ln/>
        </p:spPr>
      </p:sp>
      <p:sp>
        <p:nvSpPr>
          <p:cNvPr id="11" name="Text 9"/>
          <p:cNvSpPr/>
          <p:nvPr/>
        </p:nvSpPr>
        <p:spPr>
          <a:xfrm>
            <a:off x="969264" y="190195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02920" y="2450592"/>
            <a:ext cx="13898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53D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INGEST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30352" y="2761488"/>
            <a:ext cx="133502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880" dirty="0">
                <a:solidFill>
                  <a:srgbClr val="8B96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Upload JSON, add routes manually, or start from 49 bundled endpoints</a:t>
            </a:r>
            <a:endParaRPr lang="en-US" sz="880" dirty="0"/>
          </a:p>
        </p:txBody>
      </p:sp>
      <p:sp>
        <p:nvSpPr>
          <p:cNvPr id="14" name="Text 12"/>
          <p:cNvSpPr/>
          <p:nvPr/>
        </p:nvSpPr>
        <p:spPr>
          <a:xfrm>
            <a:off x="1984248" y="2487168"/>
            <a:ext cx="2011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2A3A5F"/>
                </a:solidFill>
              </a:rPr>
              <a:t>→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2167128" y="1737360"/>
            <a:ext cx="1572768" cy="2011680"/>
          </a:xfrm>
          <a:prstGeom prst="roundRect">
            <a:avLst>
              <a:gd name="adj" fmla="val 4651"/>
            </a:avLst>
          </a:prstGeom>
          <a:solidFill>
            <a:srgbClr val="111A2E"/>
          </a:solidFill>
          <a:ln w="12700">
            <a:solidFill>
              <a:srgbClr val="2A3A5F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2724912" y="1901952"/>
            <a:ext cx="457200" cy="457200"/>
          </a:xfrm>
          <a:prstGeom prst="ellipse">
            <a:avLst/>
          </a:prstGeom>
          <a:solidFill>
            <a:srgbClr val="FF6B2C"/>
          </a:solidFill>
          <a:ln/>
        </p:spPr>
      </p:sp>
      <p:sp>
        <p:nvSpPr>
          <p:cNvPr id="17" name="Text 15"/>
          <p:cNvSpPr/>
          <p:nvPr/>
        </p:nvSpPr>
        <p:spPr>
          <a:xfrm>
            <a:off x="2724912" y="190195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2258568" y="2450592"/>
            <a:ext cx="13898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FF6B2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UNDERSTAND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2286000" y="2761488"/>
            <a:ext cx="133502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880" dirty="0">
                <a:solidFill>
                  <a:srgbClr val="8B96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AI reads each contract; Phoenix rule engine guarantees output offline</a:t>
            </a:r>
            <a:endParaRPr lang="en-US" sz="880" dirty="0"/>
          </a:p>
        </p:txBody>
      </p:sp>
      <p:sp>
        <p:nvSpPr>
          <p:cNvPr id="20" name="Text 18"/>
          <p:cNvSpPr/>
          <p:nvPr/>
        </p:nvSpPr>
        <p:spPr>
          <a:xfrm>
            <a:off x="3739896" y="2487168"/>
            <a:ext cx="2011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2A3A5F"/>
                </a:solidFill>
              </a:rPr>
              <a:t>→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3922776" y="1737360"/>
            <a:ext cx="1572768" cy="2011680"/>
          </a:xfrm>
          <a:prstGeom prst="roundRect">
            <a:avLst>
              <a:gd name="adj" fmla="val 4651"/>
            </a:avLst>
          </a:prstGeom>
          <a:solidFill>
            <a:srgbClr val="111A2E"/>
          </a:solidFill>
          <a:ln w="12700">
            <a:solidFill>
              <a:srgbClr val="2A3A5F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480560" y="1901952"/>
            <a:ext cx="457200" cy="457200"/>
          </a:xfrm>
          <a:prstGeom prst="ellipse">
            <a:avLst/>
          </a:prstGeom>
          <a:solidFill>
            <a:srgbClr val="FFB020"/>
          </a:solidFill>
          <a:ln/>
        </p:spPr>
      </p:sp>
      <p:sp>
        <p:nvSpPr>
          <p:cNvPr id="23" name="Text 21"/>
          <p:cNvSpPr/>
          <p:nvPr/>
        </p:nvSpPr>
        <p:spPr>
          <a:xfrm>
            <a:off x="4480560" y="190195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4014216" y="2450592"/>
            <a:ext cx="13898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FFB0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TRY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041648" y="2761488"/>
            <a:ext cx="133502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880" dirty="0">
                <a:solidFill>
                  <a:srgbClr val="8B96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Playground builds cURL / JS / Python samples + simulated responses</a:t>
            </a:r>
            <a:endParaRPr lang="en-US" sz="880" dirty="0"/>
          </a:p>
        </p:txBody>
      </p:sp>
      <p:sp>
        <p:nvSpPr>
          <p:cNvPr id="26" name="Text 24"/>
          <p:cNvSpPr/>
          <p:nvPr/>
        </p:nvSpPr>
        <p:spPr>
          <a:xfrm>
            <a:off x="5495544" y="2487168"/>
            <a:ext cx="2011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2A3A5F"/>
                </a:solidFill>
              </a:rPr>
              <a:t>→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5678424" y="1737360"/>
            <a:ext cx="1572768" cy="2011680"/>
          </a:xfrm>
          <a:prstGeom prst="roundRect">
            <a:avLst>
              <a:gd name="adj" fmla="val 4651"/>
            </a:avLst>
          </a:prstGeom>
          <a:solidFill>
            <a:srgbClr val="111A2E"/>
          </a:solidFill>
          <a:ln w="12700">
            <a:solidFill>
              <a:srgbClr val="2A3A5F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6236208" y="1901952"/>
            <a:ext cx="457200" cy="457200"/>
          </a:xfrm>
          <a:prstGeom prst="ellipse">
            <a:avLst/>
          </a:prstGeom>
          <a:solidFill>
            <a:srgbClr val="3DDC97"/>
          </a:solidFill>
          <a:ln/>
        </p:spPr>
      </p:sp>
      <p:sp>
        <p:nvSpPr>
          <p:cNvPr id="29" name="Text 27"/>
          <p:cNvSpPr/>
          <p:nvPr/>
        </p:nvSpPr>
        <p:spPr>
          <a:xfrm>
            <a:off x="6236208" y="190195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5769864" y="2450592"/>
            <a:ext cx="13898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3DDC9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TEST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5797296" y="2761488"/>
            <a:ext cx="133502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880" dirty="0">
                <a:solidFill>
                  <a:srgbClr val="8B96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Generated suite runs with live PASS / FAIL report per endpoint</a:t>
            </a:r>
            <a:endParaRPr lang="en-US" sz="880" dirty="0"/>
          </a:p>
        </p:txBody>
      </p:sp>
      <p:sp>
        <p:nvSpPr>
          <p:cNvPr id="32" name="Text 30"/>
          <p:cNvSpPr/>
          <p:nvPr/>
        </p:nvSpPr>
        <p:spPr>
          <a:xfrm>
            <a:off x="7251192" y="2487168"/>
            <a:ext cx="2011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2A3A5F"/>
                </a:solidFill>
              </a:rPr>
              <a:t>→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7434072" y="1737360"/>
            <a:ext cx="1572768" cy="2011680"/>
          </a:xfrm>
          <a:prstGeom prst="roundRect">
            <a:avLst>
              <a:gd name="adj" fmla="val 4651"/>
            </a:avLst>
          </a:prstGeom>
          <a:solidFill>
            <a:srgbClr val="111A2E"/>
          </a:solidFill>
          <a:ln w="12700">
            <a:solidFill>
              <a:srgbClr val="2A3A5F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7991856" y="1901952"/>
            <a:ext cx="457200" cy="457200"/>
          </a:xfrm>
          <a:prstGeom prst="ellipse">
            <a:avLst/>
          </a:prstGeom>
          <a:solidFill>
            <a:srgbClr val="FF3D5A"/>
          </a:solidFill>
          <a:ln/>
        </p:spPr>
      </p:sp>
      <p:sp>
        <p:nvSpPr>
          <p:cNvPr id="35" name="Text 33"/>
          <p:cNvSpPr/>
          <p:nvPr/>
        </p:nvSpPr>
        <p:spPr>
          <a:xfrm>
            <a:off x="7991856" y="190195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7525512" y="2450592"/>
            <a:ext cx="13898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FF3D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ACT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7552944" y="2761488"/>
            <a:ext cx="133502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880" dirty="0">
                <a:solidFill>
                  <a:srgbClr val="8B96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Error Doctor + export tell the user exactly what to do next</a:t>
            </a:r>
            <a:endParaRPr lang="en-US" sz="880" dirty="0"/>
          </a:p>
        </p:txBody>
      </p:sp>
      <p:sp>
        <p:nvSpPr>
          <p:cNvPr id="38" name="Shape 36"/>
          <p:cNvSpPr/>
          <p:nvPr/>
        </p:nvSpPr>
        <p:spPr>
          <a:xfrm>
            <a:off x="548640" y="4069080"/>
            <a:ext cx="8046720" cy="685800"/>
          </a:xfrm>
          <a:prstGeom prst="roundRect">
            <a:avLst>
              <a:gd name="adj" fmla="val 10667"/>
            </a:avLst>
          </a:prstGeom>
          <a:solidFill>
            <a:srgbClr val="111A2E"/>
          </a:solidFill>
          <a:ln w="12700">
            <a:solidFill>
              <a:srgbClr val="2A3A5F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39" name="Text 37"/>
          <p:cNvSpPr/>
          <p:nvPr/>
        </p:nvSpPr>
        <p:spPr>
          <a:xfrm>
            <a:off x="777240" y="4069080"/>
            <a:ext cx="75895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B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Stack:  </a:t>
            </a:r>
            <a:pPr indent="0" marL="0">
              <a:buNone/>
            </a:pPr>
            <a:r>
              <a:rPr lang="en-US" sz="1100" dirty="0">
                <a:solidFill>
                  <a:srgbClr val="E9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single-file HTML + Three.js 3D front-end  ·  optional FastAPI + SQLite backend  ·  Claude API (claude-sonnet-4-6)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70B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9EE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the AI lives — and why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B96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Language judgment from the model, structure and verification from the system.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66928" y="201168"/>
            <a:ext cx="100584" cy="100584"/>
          </a:xfrm>
          <a:prstGeom prst="ellipse">
            <a:avLst/>
          </a:prstGeom>
          <a:solidFill>
            <a:srgbClr val="53D8FF"/>
          </a:solidFill>
          <a:ln/>
        </p:spPr>
      </p:sp>
      <p:sp>
        <p:nvSpPr>
          <p:cNvPr id="5" name="Shape 3"/>
          <p:cNvSpPr/>
          <p:nvPr/>
        </p:nvSpPr>
        <p:spPr>
          <a:xfrm>
            <a:off x="768096" y="201168"/>
            <a:ext cx="100584" cy="100584"/>
          </a:xfrm>
          <a:prstGeom prst="ellipse">
            <a:avLst/>
          </a:prstGeom>
          <a:solidFill>
            <a:srgbClr val="FF6B2C"/>
          </a:solidFill>
          <a:ln/>
        </p:spPr>
      </p:sp>
      <p:sp>
        <p:nvSpPr>
          <p:cNvPr id="6" name="Shape 4"/>
          <p:cNvSpPr/>
          <p:nvPr/>
        </p:nvSpPr>
        <p:spPr>
          <a:xfrm>
            <a:off x="969264" y="201168"/>
            <a:ext cx="100584" cy="100584"/>
          </a:xfrm>
          <a:prstGeom prst="ellipse">
            <a:avLst/>
          </a:prstGeom>
          <a:solidFill>
            <a:srgbClr val="FFB020"/>
          </a:solidFill>
          <a:ln/>
        </p:spPr>
      </p:sp>
      <p:sp>
        <p:nvSpPr>
          <p:cNvPr id="7" name="Shape 5"/>
          <p:cNvSpPr/>
          <p:nvPr/>
        </p:nvSpPr>
        <p:spPr>
          <a:xfrm>
            <a:off x="1170432" y="201168"/>
            <a:ext cx="100584" cy="100584"/>
          </a:xfrm>
          <a:prstGeom prst="ellipse">
            <a:avLst/>
          </a:prstGeom>
          <a:solidFill>
            <a:srgbClr val="3DDC97"/>
          </a:solidFill>
          <a:ln/>
        </p:spPr>
      </p:sp>
      <p:sp>
        <p:nvSpPr>
          <p:cNvPr id="8" name="Shape 6"/>
          <p:cNvSpPr/>
          <p:nvPr/>
        </p:nvSpPr>
        <p:spPr>
          <a:xfrm>
            <a:off x="1371600" y="201168"/>
            <a:ext cx="100584" cy="100584"/>
          </a:xfrm>
          <a:prstGeom prst="ellipse">
            <a:avLst/>
          </a:prstGeom>
          <a:solidFill>
            <a:srgbClr val="FF3D5A"/>
          </a:solidFill>
          <a:ln/>
        </p:spPr>
      </p:sp>
      <p:sp>
        <p:nvSpPr>
          <p:cNvPr id="9" name="Shape 7"/>
          <p:cNvSpPr/>
          <p:nvPr/>
        </p:nvSpPr>
        <p:spPr>
          <a:xfrm>
            <a:off x="548640" y="1417320"/>
            <a:ext cx="2606040" cy="1737360"/>
          </a:xfrm>
          <a:prstGeom prst="roundRect">
            <a:avLst>
              <a:gd name="adj" fmla="val 4211"/>
            </a:avLst>
          </a:prstGeom>
          <a:solidFill>
            <a:srgbClr val="111A2E"/>
          </a:solidFill>
          <a:ln w="12700">
            <a:solidFill>
              <a:srgbClr val="2A3A5F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731520" y="1572768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53D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documentation generator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731520" y="2103120"/>
            <a:ext cx="2240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8B96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JSON contract → structured Markdown a human can read: overview, params, responses, usage notes.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337560" y="1417320"/>
            <a:ext cx="2606040" cy="1737360"/>
          </a:xfrm>
          <a:prstGeom prst="roundRect">
            <a:avLst>
              <a:gd name="adj" fmla="val 4211"/>
            </a:avLst>
          </a:prstGeom>
          <a:solidFill>
            <a:srgbClr val="111A2E"/>
          </a:solidFill>
          <a:ln w="12700">
            <a:solidFill>
              <a:srgbClr val="2A3A5F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3520440" y="1572768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B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test-case generator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3520440" y="2103120"/>
            <a:ext cx="2240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8B96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5–7 cases per endpoint as strict JSON — positive, auth, validation, negative, edge, contract.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6126480" y="1417320"/>
            <a:ext cx="2606040" cy="1737360"/>
          </a:xfrm>
          <a:prstGeom prst="roundRect">
            <a:avLst>
              <a:gd name="adj" fmla="val 4211"/>
            </a:avLst>
          </a:prstGeom>
          <a:solidFill>
            <a:srgbClr val="111A2E"/>
          </a:solidFill>
          <a:ln w="12700">
            <a:solidFill>
              <a:srgbClr val="2A3A5F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309360" y="1572768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3D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Error Doctor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6309360" y="2103120"/>
            <a:ext cx="2240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8B96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Any pasted error → diagnosis, likely causes, and a numbered “what to do next”.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548640" y="3383280"/>
            <a:ext cx="8046720" cy="1371600"/>
          </a:xfrm>
          <a:prstGeom prst="roundRect">
            <a:avLst>
              <a:gd name="adj" fmla="val 5333"/>
            </a:avLst>
          </a:prstGeom>
          <a:solidFill>
            <a:srgbClr val="111A2E"/>
          </a:solidFill>
          <a:ln w="12700">
            <a:solidFill>
              <a:srgbClr val="2A3A5F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777240" y="3520440"/>
            <a:ext cx="7589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6B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🛠  The Phoenix fallback engine (our reliability innovation)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777240" y="3858768"/>
            <a:ext cx="7589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E9EE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AI call falls through to a deterministic rule engine on failure — same three tasks, driven by the endpoint schema and an HTTP knowledge base. Output is always produced; every result is badged “⚡ Claude AI” or “🛠 Phoenix local”, so provenance is transparent and the demo can never break offline.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70B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9EE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Prototype tour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B96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3D endpoint constellation greets the user; four tools do the work. (Live screenshots in /screenshots.)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66928" y="201168"/>
            <a:ext cx="100584" cy="100584"/>
          </a:xfrm>
          <a:prstGeom prst="ellipse">
            <a:avLst/>
          </a:prstGeom>
          <a:solidFill>
            <a:srgbClr val="53D8FF"/>
          </a:solidFill>
          <a:ln/>
        </p:spPr>
      </p:sp>
      <p:sp>
        <p:nvSpPr>
          <p:cNvPr id="5" name="Shape 3"/>
          <p:cNvSpPr/>
          <p:nvPr/>
        </p:nvSpPr>
        <p:spPr>
          <a:xfrm>
            <a:off x="768096" y="201168"/>
            <a:ext cx="100584" cy="100584"/>
          </a:xfrm>
          <a:prstGeom prst="ellipse">
            <a:avLst/>
          </a:prstGeom>
          <a:solidFill>
            <a:srgbClr val="FF6B2C"/>
          </a:solidFill>
          <a:ln/>
        </p:spPr>
      </p:sp>
      <p:sp>
        <p:nvSpPr>
          <p:cNvPr id="6" name="Shape 4"/>
          <p:cNvSpPr/>
          <p:nvPr/>
        </p:nvSpPr>
        <p:spPr>
          <a:xfrm>
            <a:off x="969264" y="201168"/>
            <a:ext cx="100584" cy="100584"/>
          </a:xfrm>
          <a:prstGeom prst="ellipse">
            <a:avLst/>
          </a:prstGeom>
          <a:solidFill>
            <a:srgbClr val="FFB020"/>
          </a:solidFill>
          <a:ln/>
        </p:spPr>
      </p:sp>
      <p:sp>
        <p:nvSpPr>
          <p:cNvPr id="7" name="Shape 5"/>
          <p:cNvSpPr/>
          <p:nvPr/>
        </p:nvSpPr>
        <p:spPr>
          <a:xfrm>
            <a:off x="1170432" y="201168"/>
            <a:ext cx="100584" cy="100584"/>
          </a:xfrm>
          <a:prstGeom prst="ellipse">
            <a:avLst/>
          </a:prstGeom>
          <a:solidFill>
            <a:srgbClr val="3DDC97"/>
          </a:solidFill>
          <a:ln/>
        </p:spPr>
      </p:sp>
      <p:sp>
        <p:nvSpPr>
          <p:cNvPr id="8" name="Shape 6"/>
          <p:cNvSpPr/>
          <p:nvPr/>
        </p:nvSpPr>
        <p:spPr>
          <a:xfrm>
            <a:off x="1371600" y="201168"/>
            <a:ext cx="100584" cy="100584"/>
          </a:xfrm>
          <a:prstGeom prst="ellipse">
            <a:avLst/>
          </a:prstGeom>
          <a:solidFill>
            <a:srgbClr val="FF3D5A"/>
          </a:solidFill>
          <a:ln/>
        </p:spPr>
      </p:sp>
      <p:sp>
        <p:nvSpPr>
          <p:cNvPr id="9" name="Shape 7"/>
          <p:cNvSpPr/>
          <p:nvPr/>
        </p:nvSpPr>
        <p:spPr>
          <a:xfrm>
            <a:off x="548640" y="1463040"/>
            <a:ext cx="2377440" cy="3200400"/>
          </a:xfrm>
          <a:prstGeom prst="roundRect">
            <a:avLst>
              <a:gd name="adj" fmla="val 3077"/>
            </a:avLst>
          </a:prstGeom>
          <a:solidFill>
            <a:srgbClr val="111A2E"/>
          </a:solidFill>
          <a:ln w="12700">
            <a:solidFill>
              <a:srgbClr val="2A3A5F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731520" y="160020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8B96A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ENDPOINTS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731520" y="1920240"/>
            <a:ext cx="685800" cy="256032"/>
          </a:xfrm>
          <a:prstGeom prst="roundRect">
            <a:avLst>
              <a:gd name="adj" fmla="val 21429"/>
            </a:avLst>
          </a:prstGeom>
          <a:solidFill>
            <a:srgbClr val="53D8FF"/>
          </a:solidFill>
          <a:ln/>
        </p:spPr>
      </p:sp>
      <p:sp>
        <p:nvSpPr>
          <p:cNvPr id="12" name="Text 10"/>
          <p:cNvSpPr/>
          <p:nvPr/>
        </p:nvSpPr>
        <p:spPr>
          <a:xfrm>
            <a:off x="731520" y="1920240"/>
            <a:ext cx="685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481328" y="1901952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9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/products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731520" y="2304288"/>
            <a:ext cx="685800" cy="256032"/>
          </a:xfrm>
          <a:prstGeom prst="roundRect">
            <a:avLst>
              <a:gd name="adj" fmla="val 21429"/>
            </a:avLst>
          </a:prstGeom>
          <a:solidFill>
            <a:srgbClr val="FF6B2C"/>
          </a:solidFill>
          <a:ln/>
        </p:spPr>
      </p:sp>
      <p:sp>
        <p:nvSpPr>
          <p:cNvPr id="15" name="Text 13"/>
          <p:cNvSpPr/>
          <p:nvPr/>
        </p:nvSpPr>
        <p:spPr>
          <a:xfrm>
            <a:off x="731520" y="2304288"/>
            <a:ext cx="685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POST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481328" y="2286000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9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/orders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731520" y="2688336"/>
            <a:ext cx="685800" cy="256032"/>
          </a:xfrm>
          <a:prstGeom prst="roundRect">
            <a:avLst>
              <a:gd name="adj" fmla="val 21429"/>
            </a:avLst>
          </a:prstGeom>
          <a:solidFill>
            <a:srgbClr val="FFB020"/>
          </a:solidFill>
          <a:ln/>
        </p:spPr>
      </p:sp>
      <p:sp>
        <p:nvSpPr>
          <p:cNvPr id="18" name="Text 16"/>
          <p:cNvSpPr/>
          <p:nvPr/>
        </p:nvSpPr>
        <p:spPr>
          <a:xfrm>
            <a:off x="731520" y="2688336"/>
            <a:ext cx="685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481328" y="2670048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9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/products/{id}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731520" y="3072384"/>
            <a:ext cx="685800" cy="256032"/>
          </a:xfrm>
          <a:prstGeom prst="roundRect">
            <a:avLst>
              <a:gd name="adj" fmla="val 21429"/>
            </a:avLst>
          </a:prstGeom>
          <a:solidFill>
            <a:srgbClr val="3DDC97"/>
          </a:solidFill>
          <a:ln/>
        </p:spPr>
      </p:sp>
      <p:sp>
        <p:nvSpPr>
          <p:cNvPr id="21" name="Text 19"/>
          <p:cNvSpPr/>
          <p:nvPr/>
        </p:nvSpPr>
        <p:spPr>
          <a:xfrm>
            <a:off x="731520" y="3072384"/>
            <a:ext cx="685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PATCH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481328" y="3054096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9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/stock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731520" y="3456432"/>
            <a:ext cx="685800" cy="256032"/>
          </a:xfrm>
          <a:prstGeom prst="roundRect">
            <a:avLst>
              <a:gd name="adj" fmla="val 21429"/>
            </a:avLst>
          </a:prstGeom>
          <a:solidFill>
            <a:srgbClr val="FF3D5A"/>
          </a:solidFill>
          <a:ln/>
        </p:spPr>
      </p:sp>
      <p:sp>
        <p:nvSpPr>
          <p:cNvPr id="24" name="Text 22"/>
          <p:cNvSpPr/>
          <p:nvPr/>
        </p:nvSpPr>
        <p:spPr>
          <a:xfrm>
            <a:off x="731520" y="3456432"/>
            <a:ext cx="685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DELETE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481328" y="3438144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9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/items/{id}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731520" y="3840480"/>
            <a:ext cx="685800" cy="256032"/>
          </a:xfrm>
          <a:prstGeom prst="roundRect">
            <a:avLst>
              <a:gd name="adj" fmla="val 21429"/>
            </a:avLst>
          </a:prstGeom>
          <a:solidFill>
            <a:srgbClr val="FF6B2C"/>
          </a:solidFill>
          <a:ln/>
        </p:spPr>
      </p:sp>
      <p:sp>
        <p:nvSpPr>
          <p:cNvPr id="27" name="Text 25"/>
          <p:cNvSpPr/>
          <p:nvPr/>
        </p:nvSpPr>
        <p:spPr>
          <a:xfrm>
            <a:off x="731520" y="3840480"/>
            <a:ext cx="685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POST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481328" y="3822192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9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/rides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731520" y="4224528"/>
            <a:ext cx="685800" cy="256032"/>
          </a:xfrm>
          <a:prstGeom prst="roundRect">
            <a:avLst>
              <a:gd name="adj" fmla="val 21429"/>
            </a:avLst>
          </a:prstGeom>
          <a:solidFill>
            <a:srgbClr val="53D8FF"/>
          </a:solidFill>
          <a:ln/>
        </p:spPr>
      </p:sp>
      <p:sp>
        <p:nvSpPr>
          <p:cNvPr id="30" name="Text 28"/>
          <p:cNvSpPr/>
          <p:nvPr/>
        </p:nvSpPr>
        <p:spPr>
          <a:xfrm>
            <a:off x="731520" y="4224528"/>
            <a:ext cx="685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1481328" y="4206240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9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/reports/{id}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3200400" y="1463040"/>
            <a:ext cx="5394960" cy="731520"/>
          </a:xfrm>
          <a:prstGeom prst="roundRect">
            <a:avLst>
              <a:gd name="adj" fmla="val 10000"/>
            </a:avLst>
          </a:prstGeom>
          <a:solidFill>
            <a:srgbClr val="111A2E"/>
          </a:solidFill>
          <a:ln w="12700">
            <a:solidFill>
              <a:srgbClr val="2A3A5F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3401568" y="155448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3D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📖 Documentation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5486400" y="1554480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8B96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AI-written docs + contract snapshot tables, exportable to Markdown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3200400" y="2304288"/>
            <a:ext cx="5394960" cy="731520"/>
          </a:xfrm>
          <a:prstGeom prst="roundRect">
            <a:avLst>
              <a:gd name="adj" fmla="val 10000"/>
            </a:avLst>
          </a:prstGeom>
          <a:solidFill>
            <a:srgbClr val="111A2E"/>
          </a:solidFill>
          <a:ln w="12700">
            <a:solidFill>
              <a:srgbClr val="2A3A5F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3401568" y="2395728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B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⚡ Playground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5486400" y="2395728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8B96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cURL / JavaScript / Python samples · simulate success &amp; failure responses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3200400" y="3145536"/>
            <a:ext cx="5394960" cy="731520"/>
          </a:xfrm>
          <a:prstGeom prst="roundRect">
            <a:avLst>
              <a:gd name="adj" fmla="val 10000"/>
            </a:avLst>
          </a:prstGeom>
          <a:solidFill>
            <a:srgbClr val="111A2E"/>
          </a:solidFill>
          <a:ln w="12700">
            <a:solidFill>
              <a:srgbClr val="2A3A5F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39" name="Text 37"/>
          <p:cNvSpPr/>
          <p:nvPr/>
        </p:nvSpPr>
        <p:spPr>
          <a:xfrm>
            <a:off x="3401568" y="3236976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DDC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🧪 Test Lab</a:t>
            </a:r>
            <a:endParaRPr lang="en-US" sz="1300" dirty="0"/>
          </a:p>
        </p:txBody>
      </p:sp>
      <p:sp>
        <p:nvSpPr>
          <p:cNvPr id="40" name="Text 38"/>
          <p:cNvSpPr/>
          <p:nvPr/>
        </p:nvSpPr>
        <p:spPr>
          <a:xfrm>
            <a:off x="5486400" y="3236976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8B96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One-click suite generation · animated run · PASS/FAIL per case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3200400" y="3986784"/>
            <a:ext cx="5394960" cy="731520"/>
          </a:xfrm>
          <a:prstGeom prst="roundRect">
            <a:avLst>
              <a:gd name="adj" fmla="val 10000"/>
            </a:avLst>
          </a:prstGeom>
          <a:solidFill>
            <a:srgbClr val="111A2E"/>
          </a:solidFill>
          <a:ln w="12700">
            <a:solidFill>
              <a:srgbClr val="2A3A5F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42" name="Text 40"/>
          <p:cNvSpPr/>
          <p:nvPr/>
        </p:nvSpPr>
        <p:spPr>
          <a:xfrm>
            <a:off x="3401568" y="4078224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3D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🩺 Error Doctor</a:t>
            </a:r>
            <a:endParaRPr lang="en-US" sz="1300" dirty="0"/>
          </a:p>
        </p:txBody>
      </p:sp>
      <p:sp>
        <p:nvSpPr>
          <p:cNvPr id="43" name="Text 41"/>
          <p:cNvSpPr/>
          <p:nvPr/>
        </p:nvSpPr>
        <p:spPr>
          <a:xfrm>
            <a:off x="5486400" y="4078224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8B96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Paste any error → plain-English diagnosis + next steps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70B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9EE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Results &amp; validation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B96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Test Lab is contract-grounded: a case passes only if the endpoint's own contract declares that behavior.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66928" y="201168"/>
            <a:ext cx="100584" cy="100584"/>
          </a:xfrm>
          <a:prstGeom prst="ellipse">
            <a:avLst/>
          </a:prstGeom>
          <a:solidFill>
            <a:srgbClr val="53D8FF"/>
          </a:solidFill>
          <a:ln/>
        </p:spPr>
      </p:sp>
      <p:sp>
        <p:nvSpPr>
          <p:cNvPr id="5" name="Shape 3"/>
          <p:cNvSpPr/>
          <p:nvPr/>
        </p:nvSpPr>
        <p:spPr>
          <a:xfrm>
            <a:off x="768096" y="201168"/>
            <a:ext cx="100584" cy="100584"/>
          </a:xfrm>
          <a:prstGeom prst="ellipse">
            <a:avLst/>
          </a:prstGeom>
          <a:solidFill>
            <a:srgbClr val="FF6B2C"/>
          </a:solidFill>
          <a:ln/>
        </p:spPr>
      </p:sp>
      <p:sp>
        <p:nvSpPr>
          <p:cNvPr id="6" name="Shape 4"/>
          <p:cNvSpPr/>
          <p:nvPr/>
        </p:nvSpPr>
        <p:spPr>
          <a:xfrm>
            <a:off x="969264" y="201168"/>
            <a:ext cx="100584" cy="100584"/>
          </a:xfrm>
          <a:prstGeom prst="ellipse">
            <a:avLst/>
          </a:prstGeom>
          <a:solidFill>
            <a:srgbClr val="FFB020"/>
          </a:solidFill>
          <a:ln/>
        </p:spPr>
      </p:sp>
      <p:sp>
        <p:nvSpPr>
          <p:cNvPr id="7" name="Shape 5"/>
          <p:cNvSpPr/>
          <p:nvPr/>
        </p:nvSpPr>
        <p:spPr>
          <a:xfrm>
            <a:off x="1170432" y="201168"/>
            <a:ext cx="100584" cy="100584"/>
          </a:xfrm>
          <a:prstGeom prst="ellipse">
            <a:avLst/>
          </a:prstGeom>
          <a:solidFill>
            <a:srgbClr val="3DDC97"/>
          </a:solidFill>
          <a:ln/>
        </p:spPr>
      </p:sp>
      <p:sp>
        <p:nvSpPr>
          <p:cNvPr id="8" name="Shape 6"/>
          <p:cNvSpPr/>
          <p:nvPr/>
        </p:nvSpPr>
        <p:spPr>
          <a:xfrm>
            <a:off x="1371600" y="201168"/>
            <a:ext cx="100584" cy="100584"/>
          </a:xfrm>
          <a:prstGeom prst="ellipse">
            <a:avLst/>
          </a:prstGeom>
          <a:solidFill>
            <a:srgbClr val="FF3D5A"/>
          </a:solidFill>
          <a:ln/>
        </p:spPr>
      </p:sp>
      <p:sp>
        <p:nvSpPr>
          <p:cNvPr id="9" name="Shape 7"/>
          <p:cNvSpPr/>
          <p:nvPr/>
        </p:nvSpPr>
        <p:spPr>
          <a:xfrm>
            <a:off x="548640" y="1463040"/>
            <a:ext cx="1920240" cy="1371600"/>
          </a:xfrm>
          <a:prstGeom prst="roundRect">
            <a:avLst>
              <a:gd name="adj" fmla="val 5333"/>
            </a:avLst>
          </a:prstGeom>
          <a:solidFill>
            <a:srgbClr val="111A2E"/>
          </a:solidFill>
          <a:ln w="12700">
            <a:solidFill>
              <a:srgbClr val="2A3A5F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40080" y="1572768"/>
            <a:ext cx="1737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6B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49/49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685800" y="2157984"/>
            <a:ext cx="16459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8B96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endpoints fully documented by either engine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2633472" y="1463040"/>
            <a:ext cx="1920240" cy="1371600"/>
          </a:xfrm>
          <a:prstGeom prst="roundRect">
            <a:avLst>
              <a:gd name="adj" fmla="val 5333"/>
            </a:avLst>
          </a:prstGeom>
          <a:solidFill>
            <a:srgbClr val="111A2E"/>
          </a:solidFill>
          <a:ln w="12700">
            <a:solidFill>
              <a:srgbClr val="2A3A5F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24912" y="1572768"/>
            <a:ext cx="1737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B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2770632" y="2157984"/>
            <a:ext cx="16459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8B96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test-case archetypes generated per suite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4718304" y="1463040"/>
            <a:ext cx="1920240" cy="1371600"/>
          </a:xfrm>
          <a:prstGeom prst="roundRect">
            <a:avLst>
              <a:gd name="adj" fmla="val 5333"/>
            </a:avLst>
          </a:prstGeom>
          <a:solidFill>
            <a:srgbClr val="111A2E"/>
          </a:solidFill>
          <a:ln w="12700">
            <a:solidFill>
              <a:srgbClr val="2A3A5F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4809744" y="1572768"/>
            <a:ext cx="1737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53D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4855464" y="2157984"/>
            <a:ext cx="16459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8B96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sample-request languages (cURL · JS · Python)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6803136" y="1463040"/>
            <a:ext cx="1920240" cy="1371600"/>
          </a:xfrm>
          <a:prstGeom prst="roundRect">
            <a:avLst>
              <a:gd name="adj" fmla="val 5333"/>
            </a:avLst>
          </a:prstGeom>
          <a:solidFill>
            <a:srgbClr val="111A2E"/>
          </a:solidFill>
          <a:ln w="12700">
            <a:solidFill>
              <a:srgbClr val="2A3A5F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6894576" y="1572768"/>
            <a:ext cx="1737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3DDC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1-click</a:t>
            </a:r>
            <a:endParaRPr lang="en-US" sz="2600" dirty="0"/>
          </a:p>
        </p:txBody>
      </p:sp>
      <p:sp>
        <p:nvSpPr>
          <p:cNvPr id="20" name="Text 18"/>
          <p:cNvSpPr/>
          <p:nvPr/>
        </p:nvSpPr>
        <p:spPr>
          <a:xfrm>
            <a:off x="6940296" y="2157984"/>
            <a:ext cx="16459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8B96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hand-off from failed test to Error Doctor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548640" y="30632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9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Sample run — POST /api/v1/orders (ShopStack)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48640" y="3429000"/>
            <a:ext cx="594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DDC9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PASS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1234440" y="3429000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9EE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Happy path returns success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5486400" y="3429000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6A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expect 2xx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548640" y="3730752"/>
            <a:ext cx="594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DDC9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PASS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1234440" y="3730752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9EE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Rejects missing bearer token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5486400" y="3730752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6A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expect 401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548640" y="4032504"/>
            <a:ext cx="594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DDC9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PASS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1234440" y="4032504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9EE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Rejects malformed body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5486400" y="4032504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6A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expect 422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548640" y="4334256"/>
            <a:ext cx="594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DDC9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PASS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1234440" y="4334256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9EE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Payment failure handled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5486400" y="4334256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6A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expect 402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548640" y="4636008"/>
            <a:ext cx="594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3D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FAIL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1234440" y="4636008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9EE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Wrong method returns 405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5486400" y="4636008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6A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expect 405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6400800" y="3429000"/>
            <a:ext cx="2194560" cy="1417320"/>
          </a:xfrm>
          <a:prstGeom prst="roundRect">
            <a:avLst>
              <a:gd name="adj" fmla="val 5161"/>
            </a:avLst>
          </a:prstGeom>
          <a:solidFill>
            <a:srgbClr val="111A2E"/>
          </a:solidFill>
          <a:ln w="12700">
            <a:solidFill>
              <a:srgbClr val="2A3A5F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38" name="Text 36"/>
          <p:cNvSpPr/>
          <p:nvPr/>
        </p:nvSpPr>
        <p:spPr>
          <a:xfrm>
            <a:off x="6537960" y="3566160"/>
            <a:ext cx="19202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B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4/5</a:t>
            </a:r>
            <a:endParaRPr lang="en-US" sz="300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8B96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passed — the 405 case is honestly reported, not rubber-stamped</a:t>
            </a:r>
            <a:endParaRPr lang="en-US" sz="3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70B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9EE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Limitations &amp; responsible use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B96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Stated honestly — this is a prototype with clear boundaries.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66928" y="201168"/>
            <a:ext cx="100584" cy="100584"/>
          </a:xfrm>
          <a:prstGeom prst="ellipse">
            <a:avLst/>
          </a:prstGeom>
          <a:solidFill>
            <a:srgbClr val="53D8FF"/>
          </a:solidFill>
          <a:ln/>
        </p:spPr>
      </p:sp>
      <p:sp>
        <p:nvSpPr>
          <p:cNvPr id="5" name="Shape 3"/>
          <p:cNvSpPr/>
          <p:nvPr/>
        </p:nvSpPr>
        <p:spPr>
          <a:xfrm>
            <a:off x="768096" y="201168"/>
            <a:ext cx="100584" cy="100584"/>
          </a:xfrm>
          <a:prstGeom prst="ellipse">
            <a:avLst/>
          </a:prstGeom>
          <a:solidFill>
            <a:srgbClr val="FF6B2C"/>
          </a:solidFill>
          <a:ln/>
        </p:spPr>
      </p:sp>
      <p:sp>
        <p:nvSpPr>
          <p:cNvPr id="6" name="Shape 4"/>
          <p:cNvSpPr/>
          <p:nvPr/>
        </p:nvSpPr>
        <p:spPr>
          <a:xfrm>
            <a:off x="969264" y="201168"/>
            <a:ext cx="100584" cy="100584"/>
          </a:xfrm>
          <a:prstGeom prst="ellipse">
            <a:avLst/>
          </a:prstGeom>
          <a:solidFill>
            <a:srgbClr val="FFB020"/>
          </a:solidFill>
          <a:ln/>
        </p:spPr>
      </p:sp>
      <p:sp>
        <p:nvSpPr>
          <p:cNvPr id="7" name="Shape 5"/>
          <p:cNvSpPr/>
          <p:nvPr/>
        </p:nvSpPr>
        <p:spPr>
          <a:xfrm>
            <a:off x="1170432" y="201168"/>
            <a:ext cx="100584" cy="100584"/>
          </a:xfrm>
          <a:prstGeom prst="ellipse">
            <a:avLst/>
          </a:prstGeom>
          <a:solidFill>
            <a:srgbClr val="3DDC97"/>
          </a:solidFill>
          <a:ln/>
        </p:spPr>
      </p:sp>
      <p:sp>
        <p:nvSpPr>
          <p:cNvPr id="8" name="Shape 6"/>
          <p:cNvSpPr/>
          <p:nvPr/>
        </p:nvSpPr>
        <p:spPr>
          <a:xfrm>
            <a:off x="1371600" y="201168"/>
            <a:ext cx="100584" cy="100584"/>
          </a:xfrm>
          <a:prstGeom prst="ellipse">
            <a:avLst/>
          </a:prstGeom>
          <a:solidFill>
            <a:srgbClr val="FF3D5A"/>
          </a:solidFill>
          <a:ln/>
        </p:spPr>
      </p:sp>
      <p:sp>
        <p:nvSpPr>
          <p:cNvPr id="9" name="Shape 7"/>
          <p:cNvSpPr/>
          <p:nvPr/>
        </p:nvSpPr>
        <p:spPr>
          <a:xfrm>
            <a:off x="548640" y="1463040"/>
            <a:ext cx="3977640" cy="3200400"/>
          </a:xfrm>
          <a:prstGeom prst="roundRect">
            <a:avLst>
              <a:gd name="adj" fmla="val 2286"/>
            </a:avLst>
          </a:prstGeom>
          <a:solidFill>
            <a:srgbClr val="111A2E"/>
          </a:solidFill>
          <a:ln w="12700">
            <a:solidFill>
              <a:srgbClr val="2A3A5F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777240" y="160020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B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Limitations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777240" y="2011680"/>
            <a:ext cx="3520440" cy="2468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1700"/>
              </a:lnSpc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E9EE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 execution is contract-level simulation, not live HTTP against a deployed server</a:t>
            </a:r>
            <a:endParaRPr lang="en-US" sz="1150" dirty="0"/>
          </a:p>
          <a:p>
            <a:pPr marL="342900" indent="-342900">
              <a:lnSpc>
                <a:spcPts val="1700"/>
              </a:lnSpc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E9EE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output can be imprecise or over-confident — generated docs are drafts</a:t>
            </a:r>
            <a:endParaRPr lang="en-US" sz="1150" dirty="0"/>
          </a:p>
          <a:p>
            <a:pPr marL="342900" indent="-342900">
              <a:lnSpc>
                <a:spcPts val="1700"/>
              </a:lnSpc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E9EE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Single-file portal keeps state in memory; persistence needs the FastAPI + SQLite path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4709160" y="1463040"/>
            <a:ext cx="3977640" cy="3200400"/>
          </a:xfrm>
          <a:prstGeom prst="roundRect">
            <a:avLst>
              <a:gd name="adj" fmla="val 2286"/>
            </a:avLst>
          </a:prstGeom>
          <a:solidFill>
            <a:srgbClr val="111A2E"/>
          </a:solidFill>
          <a:ln w="12700">
            <a:solidFill>
              <a:srgbClr val="2A3A5F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937760" y="160020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DDC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Responsible use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4937760" y="2011680"/>
            <a:ext cx="3520440" cy="2468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1700"/>
              </a:lnSpc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E9EE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Never paste secrets, tokens, or personal/health data — all bundled data is fictional</a:t>
            </a:r>
            <a:endParaRPr lang="en-US" sz="1150" dirty="0"/>
          </a:p>
          <a:p>
            <a:pPr marL="342900" indent="-342900">
              <a:lnSpc>
                <a:spcPts val="1700"/>
              </a:lnSpc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E9EE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output is badged by engine (AI vs. local) for transparent provenance</a:t>
            </a:r>
            <a:endParaRPr lang="en-US" sz="1150" dirty="0"/>
          </a:p>
          <a:p>
            <a:pPr marL="342900" indent="-342900">
              <a:lnSpc>
                <a:spcPts val="1700"/>
              </a:lnSpc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E9EE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calls are minimal and user-initiated — one per generation click, no background use</a:t>
            </a:r>
            <a:endParaRPr lang="en-US" sz="11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70B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9EE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Future improvements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B96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roadmap after Himshikhar.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66928" y="201168"/>
            <a:ext cx="100584" cy="100584"/>
          </a:xfrm>
          <a:prstGeom prst="ellipse">
            <a:avLst/>
          </a:prstGeom>
          <a:solidFill>
            <a:srgbClr val="53D8FF"/>
          </a:solidFill>
          <a:ln/>
        </p:spPr>
      </p:sp>
      <p:sp>
        <p:nvSpPr>
          <p:cNvPr id="5" name="Shape 3"/>
          <p:cNvSpPr/>
          <p:nvPr/>
        </p:nvSpPr>
        <p:spPr>
          <a:xfrm>
            <a:off x="768096" y="201168"/>
            <a:ext cx="100584" cy="100584"/>
          </a:xfrm>
          <a:prstGeom prst="ellipse">
            <a:avLst/>
          </a:prstGeom>
          <a:solidFill>
            <a:srgbClr val="FF6B2C"/>
          </a:solidFill>
          <a:ln/>
        </p:spPr>
      </p:sp>
      <p:sp>
        <p:nvSpPr>
          <p:cNvPr id="6" name="Shape 4"/>
          <p:cNvSpPr/>
          <p:nvPr/>
        </p:nvSpPr>
        <p:spPr>
          <a:xfrm>
            <a:off x="969264" y="201168"/>
            <a:ext cx="100584" cy="100584"/>
          </a:xfrm>
          <a:prstGeom prst="ellipse">
            <a:avLst/>
          </a:prstGeom>
          <a:solidFill>
            <a:srgbClr val="FFB020"/>
          </a:solidFill>
          <a:ln/>
        </p:spPr>
      </p:sp>
      <p:sp>
        <p:nvSpPr>
          <p:cNvPr id="7" name="Shape 5"/>
          <p:cNvSpPr/>
          <p:nvPr/>
        </p:nvSpPr>
        <p:spPr>
          <a:xfrm>
            <a:off x="1170432" y="201168"/>
            <a:ext cx="100584" cy="100584"/>
          </a:xfrm>
          <a:prstGeom prst="ellipse">
            <a:avLst/>
          </a:prstGeom>
          <a:solidFill>
            <a:srgbClr val="3DDC97"/>
          </a:solidFill>
          <a:ln/>
        </p:spPr>
      </p:sp>
      <p:sp>
        <p:nvSpPr>
          <p:cNvPr id="8" name="Shape 6"/>
          <p:cNvSpPr/>
          <p:nvPr/>
        </p:nvSpPr>
        <p:spPr>
          <a:xfrm>
            <a:off x="1371600" y="201168"/>
            <a:ext cx="100584" cy="100584"/>
          </a:xfrm>
          <a:prstGeom prst="ellipse">
            <a:avLst/>
          </a:prstGeom>
          <a:solidFill>
            <a:srgbClr val="FF3D5A"/>
          </a:solidFill>
          <a:ln/>
        </p:spPr>
      </p:sp>
      <p:sp>
        <p:nvSpPr>
          <p:cNvPr id="9" name="Shape 7"/>
          <p:cNvSpPr/>
          <p:nvPr/>
        </p:nvSpPr>
        <p:spPr>
          <a:xfrm>
            <a:off x="548640" y="1554480"/>
            <a:ext cx="3931920" cy="1371600"/>
          </a:xfrm>
          <a:prstGeom prst="roundRect">
            <a:avLst>
              <a:gd name="adj" fmla="val 5333"/>
            </a:avLst>
          </a:prstGeom>
          <a:solidFill>
            <a:srgbClr val="111A2E"/>
          </a:solidFill>
          <a:ln w="12700">
            <a:solidFill>
              <a:srgbClr val="2A3A5F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777240" y="2011680"/>
            <a:ext cx="384048" cy="384048"/>
          </a:xfrm>
          <a:prstGeom prst="ellipse">
            <a:avLst/>
          </a:prstGeom>
          <a:solidFill>
            <a:srgbClr val="53D8FF"/>
          </a:solidFill>
          <a:ln/>
        </p:spPr>
      </p:sp>
      <p:sp>
        <p:nvSpPr>
          <p:cNvPr id="11" name="Text 9"/>
          <p:cNvSpPr/>
          <p:nvPr/>
        </p:nvSpPr>
        <p:spPr>
          <a:xfrm>
            <a:off x="777240" y="20116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325880" y="1755648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53D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test execution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1325880" y="2139696"/>
            <a:ext cx="2971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8B96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 suites against real base URLs with CORS-aware proxying and auth handling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709160" y="1554480"/>
            <a:ext cx="3931920" cy="1371600"/>
          </a:xfrm>
          <a:prstGeom prst="roundRect">
            <a:avLst>
              <a:gd name="adj" fmla="val 5333"/>
            </a:avLst>
          </a:prstGeom>
          <a:solidFill>
            <a:srgbClr val="111A2E"/>
          </a:solidFill>
          <a:ln w="12700">
            <a:solidFill>
              <a:srgbClr val="2A3A5F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937760" y="2011680"/>
            <a:ext cx="384048" cy="384048"/>
          </a:xfrm>
          <a:prstGeom prst="ellipse">
            <a:avLst/>
          </a:prstGeom>
          <a:solidFill>
            <a:srgbClr val="FFB020"/>
          </a:solidFill>
          <a:ln/>
        </p:spPr>
      </p:sp>
      <p:sp>
        <p:nvSpPr>
          <p:cNvPr id="16" name="Text 14"/>
          <p:cNvSpPr/>
          <p:nvPr/>
        </p:nvSpPr>
        <p:spPr>
          <a:xfrm>
            <a:off x="4937760" y="20116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5486400" y="1755648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B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OpenAPI 3.1 in/out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5486400" y="2139696"/>
            <a:ext cx="2971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8B96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Import Swagger specs directly; export generated docs back as OpenAPI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548640" y="3154680"/>
            <a:ext cx="3931920" cy="1371600"/>
          </a:xfrm>
          <a:prstGeom prst="roundRect">
            <a:avLst>
              <a:gd name="adj" fmla="val 5333"/>
            </a:avLst>
          </a:prstGeom>
          <a:solidFill>
            <a:srgbClr val="111A2E"/>
          </a:solidFill>
          <a:ln w="12700">
            <a:solidFill>
              <a:srgbClr val="2A3A5F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777240" y="3611880"/>
            <a:ext cx="384048" cy="384048"/>
          </a:xfrm>
          <a:prstGeom prst="ellipse">
            <a:avLst/>
          </a:prstGeom>
          <a:solidFill>
            <a:srgbClr val="FF6B2C"/>
          </a:solidFill>
          <a:ln/>
        </p:spPr>
      </p:sp>
      <p:sp>
        <p:nvSpPr>
          <p:cNvPr id="21" name="Text 19"/>
          <p:cNvSpPr/>
          <p:nvPr/>
        </p:nvSpPr>
        <p:spPr>
          <a:xfrm>
            <a:off x="777240" y="36118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325880" y="3355848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6B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Doc-drift CI hook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1325880" y="3739896"/>
            <a:ext cx="2971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8B96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Fail the build when the code's contract diverges from published docs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4709160" y="3154680"/>
            <a:ext cx="3931920" cy="1371600"/>
          </a:xfrm>
          <a:prstGeom prst="roundRect">
            <a:avLst>
              <a:gd name="adj" fmla="val 5333"/>
            </a:avLst>
          </a:prstGeom>
          <a:solidFill>
            <a:srgbClr val="111A2E"/>
          </a:solidFill>
          <a:ln w="12700">
            <a:solidFill>
              <a:srgbClr val="2A3A5F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937760" y="3611880"/>
            <a:ext cx="384048" cy="384048"/>
          </a:xfrm>
          <a:prstGeom prst="ellipse">
            <a:avLst/>
          </a:prstGeom>
          <a:solidFill>
            <a:srgbClr val="3DDC97"/>
          </a:solidFill>
          <a:ln/>
        </p:spPr>
      </p:sp>
      <p:sp>
        <p:nvSpPr>
          <p:cNvPr id="26" name="Text 24"/>
          <p:cNvSpPr/>
          <p:nvPr/>
        </p:nvSpPr>
        <p:spPr>
          <a:xfrm>
            <a:off x="4937760" y="36118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5486400" y="3355848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3DDC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Schema assertions</a:t>
            </a:r>
            <a:endParaRPr lang="en-US" sz="1350" dirty="0"/>
          </a:p>
        </p:txBody>
      </p:sp>
      <p:sp>
        <p:nvSpPr>
          <p:cNvPr id="28" name="Text 26"/>
          <p:cNvSpPr/>
          <p:nvPr/>
        </p:nvSpPr>
        <p:spPr>
          <a:xfrm>
            <a:off x="5486400" y="3739896"/>
            <a:ext cx="2971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8B96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Runner validates response bodies against schemas, not just status codes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70B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731520"/>
            <a:ext cx="128016" cy="128016"/>
          </a:xfrm>
          <a:prstGeom prst="ellipse">
            <a:avLst/>
          </a:prstGeom>
          <a:solidFill>
            <a:srgbClr val="53D8FF">
              <a:alpha val="7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8138160" y="914400"/>
            <a:ext cx="128016" cy="128016"/>
          </a:xfrm>
          <a:prstGeom prst="ellipse">
            <a:avLst/>
          </a:prstGeom>
          <a:solidFill>
            <a:srgbClr val="FF6B2C">
              <a:alpha val="7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280160" y="4023360"/>
            <a:ext cx="128016" cy="128016"/>
          </a:xfrm>
          <a:prstGeom prst="ellipse">
            <a:avLst/>
          </a:prstGeom>
          <a:solidFill>
            <a:srgbClr val="FFB020">
              <a:alpha val="75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7772400" y="4114800"/>
            <a:ext cx="128016" cy="128016"/>
          </a:xfrm>
          <a:prstGeom prst="ellipse">
            <a:avLst/>
          </a:prstGeom>
          <a:solidFill>
            <a:srgbClr val="3DDC97">
              <a:alpha val="75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05156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E9EE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APIPhoenix</a:t>
            </a:r>
            <a:endParaRPr lang="en-US" sz="4200" dirty="0"/>
          </a:p>
        </p:txBody>
      </p:sp>
      <p:sp>
        <p:nvSpPr>
          <p:cNvPr id="7" name="Text 5"/>
          <p:cNvSpPr/>
          <p:nvPr/>
        </p:nvSpPr>
        <p:spPr>
          <a:xfrm>
            <a:off x="914400" y="1965960"/>
            <a:ext cx="7315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2000"/>
              </a:lnSpc>
              <a:buNone/>
            </a:pPr>
            <a:r>
              <a:rPr lang="en-US" sz="1450" dirty="0">
                <a:solidFill>
                  <a:srgbClr val="8B96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raw route definitions to docs, samples, tests and next steps —</a:t>
            </a:r>
            <a:endParaRPr lang="en-US" sz="1450" dirty="0"/>
          </a:p>
          <a:p>
            <a:pPr algn="ctr" indent="0" marL="0">
              <a:lnSpc>
                <a:spcPts val="2000"/>
              </a:lnSpc>
              <a:buNone/>
            </a:pPr>
            <a:r>
              <a:rPr lang="en-US" sz="1450" dirty="0">
                <a:solidFill>
                  <a:srgbClr val="8B96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clear workflow, AI where language matters, a rule engine where reliability matters.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1051560" y="2880360"/>
            <a:ext cx="1600200" cy="1051560"/>
          </a:xfrm>
          <a:prstGeom prst="roundRect">
            <a:avLst>
              <a:gd name="adj" fmla="val 6957"/>
            </a:avLst>
          </a:prstGeom>
          <a:solidFill>
            <a:srgbClr val="111A2E"/>
          </a:solidFill>
          <a:ln w="12700">
            <a:solidFill>
              <a:srgbClr val="2A3A5F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1051560" y="2999232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6B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49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1051560" y="3474720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96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endpoints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880360" y="2880360"/>
            <a:ext cx="1600200" cy="1051560"/>
          </a:xfrm>
          <a:prstGeom prst="roundRect">
            <a:avLst>
              <a:gd name="adj" fmla="val 6957"/>
            </a:avLst>
          </a:prstGeom>
          <a:solidFill>
            <a:srgbClr val="111A2E"/>
          </a:solidFill>
          <a:ln w="12700">
            <a:solidFill>
              <a:srgbClr val="2A3A5F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2880360" y="2999232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53D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2880360" y="3474720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96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services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709160" y="2880360"/>
            <a:ext cx="1600200" cy="1051560"/>
          </a:xfrm>
          <a:prstGeom prst="roundRect">
            <a:avLst>
              <a:gd name="adj" fmla="val 6957"/>
            </a:avLst>
          </a:prstGeom>
          <a:solidFill>
            <a:srgbClr val="111A2E"/>
          </a:solidFill>
          <a:ln w="12700">
            <a:solidFill>
              <a:srgbClr val="2A3A5F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709160" y="2999232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B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4709160" y="3474720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96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AI-assisted tools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537960" y="2880360"/>
            <a:ext cx="1600200" cy="1051560"/>
          </a:xfrm>
          <a:prstGeom prst="roundRect">
            <a:avLst>
              <a:gd name="adj" fmla="val 6957"/>
            </a:avLst>
          </a:prstGeom>
          <a:solidFill>
            <a:srgbClr val="111A2E"/>
          </a:solidFill>
          <a:ln w="12700">
            <a:solidFill>
              <a:srgbClr val="2A3A5F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537960" y="2999232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3DDC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6537960" y="3474720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96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offline availability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57200" y="43434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6B2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Thank you  ·  Team Phoenix — Sri Varshith Vaitla · Nekkanti Bhavita · Pula Nikarika · Sai Ankith Reddy Kancherla  ·  SDAI Himshikhar 2026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APIPhoenix — AI-Powered API Documentation &amp; Testing Portal</dc:title>
  <dc:subject>PptxGenJS Presentation</dc:subject>
  <dc:creator>Team Phoenix</dc:creator>
  <cp:lastModifiedBy>Team Phoenix</cp:lastModifiedBy>
  <cp:revision>1</cp:revision>
  <dcterms:created xsi:type="dcterms:W3CDTF">2026-07-09T06:47:42Z</dcterms:created>
  <dcterms:modified xsi:type="dcterms:W3CDTF">2026-07-09T06:47:42Z</dcterms:modified>
</cp:coreProperties>
</file>